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AD47"/>
              </a:solidFill>
              <a:effectLst/>
            </c:spPr>
          </c:dPt>
          <c:dPt>
            <c:idx val="1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bubble3D val="0"/>
            <c:spPr>
              <a:solidFill>
                <a:srgbClr val="FFD700"/>
              </a:solidFill>
              <a:effectLst/>
            </c:spPr>
          </c:dPt>
          <c:dPt>
            <c:idx val="3"/>
            <c:bubble3D val="0"/>
            <c:spPr>
              <a:solidFill>
                <a:srgbClr val="ED7D3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386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386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386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386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Completed</c:v>
                </c:pt>
                <c:pt idx="1">
                  <c:v>In Progress</c:v>
                </c:pt>
                <c:pt idx="2">
                  <c:v>Planned</c:v>
                </c:pt>
                <c:pt idx="3">
                  <c:v>Under Study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14</c:v>
                </c:pt>
                <c:pt idx="1">
                  <c:v>11</c:v>
                </c:pt>
                <c:pt idx="2">
                  <c:v>13</c:v>
                </c:pt>
                <c:pt idx="3">
                  <c:v>11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Savings (k€/yr)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Lyon</c:v>
                  </c:pt>
                  <c:pt idx="1">
                    <c:v>Brussels</c:v>
                  </c:pt>
                  <c:pt idx="2">
                    <c:v>Rheinberg</c:v>
                  </c:pt>
                  <c:pt idx="3">
                    <c:v>Rosignano</c:v>
                  </c:pt>
                  <c:pt idx="4">
                    <c:v>Torrelavega</c:v>
                  </c:pt>
                  <c:pt idx="5">
                    <c:v>Jemeppe</c:v>
                  </c:pt>
                  <c:pt idx="6">
                    <c:v>Tavaux</c:v>
                  </c:pt>
                  <c:pt idx="7">
                    <c:v>Dombasle</c:v>
                  </c:pt>
                  <c:pt idx="8">
                    <c:v>Martorell</c:v>
                  </c:pt>
                  <c:pt idx="9">
                    <c:v>Warrington</c:v>
                  </c:pt>
                  <c:pt idx="10">
                    <c:v>Stauffer</c:v>
                  </c:pt>
                  <c:pt idx="11">
                    <c:v>Bussi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328</c:v>
                </c:pt>
                <c:pt idx="1">
                  <c:v>630</c:v>
                </c:pt>
                <c:pt idx="2">
                  <c:v>496</c:v>
                </c:pt>
                <c:pt idx="3">
                  <c:v>340</c:v>
                </c:pt>
                <c:pt idx="4">
                  <c:v>343</c:v>
                </c:pt>
                <c:pt idx="5">
                  <c:v>321</c:v>
                </c:pt>
                <c:pt idx="6">
                  <c:v>591</c:v>
                </c:pt>
                <c:pt idx="7">
                  <c:v>455</c:v>
                </c:pt>
                <c:pt idx="8">
                  <c:v>420</c:v>
                </c:pt>
                <c:pt idx="9">
                  <c:v>541</c:v>
                </c:pt>
                <c:pt idx="10">
                  <c:v>449</c:v>
                </c:pt>
                <c:pt idx="11">
                  <c:v>204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(k€)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VSD</c:v>
                  </c:pt>
                  <c:pt idx="1">
                    <c:v>LED</c:v>
                  </c:pt>
                  <c:pt idx="2">
                    <c:v>Heat Rec.</c:v>
                  </c:pt>
                  <c:pt idx="3">
                    <c:v>Steam Opt.</c:v>
                  </c:pt>
                  <c:pt idx="4">
                    <c:v>Comp. Air</c:v>
                  </c:pt>
                  <c:pt idx="5">
                    <c:v>Insulation</c:v>
                  </c:pt>
                  <c:pt idx="6">
                    <c:v>Motor</c:v>
                  </c:pt>
                  <c:pt idx="7">
                    <c:v>WHBoiler</c:v>
                  </c:pt>
                  <c:pt idx="8">
                    <c:v>PFC</c:v>
                  </c:pt>
                  <c:pt idx="9">
                    <c:v>Process Opt.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5993</c:v>
                </c:pt>
                <c:pt idx="1">
                  <c:v>2098</c:v>
                </c:pt>
                <c:pt idx="2">
                  <c:v>3253</c:v>
                </c:pt>
                <c:pt idx="3">
                  <c:v>5596</c:v>
                </c:pt>
                <c:pt idx="4">
                  <c:v>5076</c:v>
                </c:pt>
                <c:pt idx="5">
                  <c:v>5890</c:v>
                </c:pt>
                <c:pt idx="6">
                  <c:v>0</c:v>
                </c:pt>
                <c:pt idx="7">
                  <c:v>1462</c:v>
                </c:pt>
                <c:pt idx="8">
                  <c:v>7288</c:v>
                </c:pt>
                <c:pt idx="9">
                  <c:v>4975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Savings (k€/yr)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VSD</c:v>
                  </c:pt>
                  <c:pt idx="1">
                    <c:v>LED</c:v>
                  </c:pt>
                  <c:pt idx="2">
                    <c:v>Heat Rec.</c:v>
                  </c:pt>
                  <c:pt idx="3">
                    <c:v>Steam Opt.</c:v>
                  </c:pt>
                  <c:pt idx="4">
                    <c:v>Comp. Air</c:v>
                  </c:pt>
                  <c:pt idx="5">
                    <c:v>Insulation</c:v>
                  </c:pt>
                  <c:pt idx="6">
                    <c:v>Motor</c:v>
                  </c:pt>
                  <c:pt idx="7">
                    <c:v>WHBoiler</c:v>
                  </c:pt>
                  <c:pt idx="8">
                    <c:v>PFC</c:v>
                  </c:pt>
                  <c:pt idx="9">
                    <c:v>Process Opt.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871</c:v>
                </c:pt>
                <c:pt idx="1">
                  <c:v>380</c:v>
                </c:pt>
                <c:pt idx="2">
                  <c:v>398</c:v>
                </c:pt>
                <c:pt idx="3">
                  <c:v>687</c:v>
                </c:pt>
                <c:pt idx="4">
                  <c:v>542</c:v>
                </c:pt>
                <c:pt idx="5">
                  <c:v>477</c:v>
                </c:pt>
                <c:pt idx="6">
                  <c:v>0</c:v>
                </c:pt>
                <c:pt idx="7">
                  <c:v>318</c:v>
                </c:pt>
                <c:pt idx="8">
                  <c:v>1042</c:v>
                </c:pt>
                <c:pt idx="9">
                  <c:v>353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NPV (k€)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Warrington</c:v>
                  </c:pt>
                  <c:pt idx="1">
                    <c:v>Tavaux</c:v>
                  </c:pt>
                  <c:pt idx="2">
                    <c:v>Torrelavega</c:v>
                  </c:pt>
                  <c:pt idx="3">
                    <c:v>Rosignano</c:v>
                  </c:pt>
                  <c:pt idx="4">
                    <c:v>Jemeppe</c:v>
                  </c:pt>
                  <c:pt idx="5">
                    <c:v>Brussels</c:v>
                  </c:pt>
                  <c:pt idx="6">
                    <c:v>Dombasle</c:v>
                  </c:pt>
                  <c:pt idx="7">
                    <c:v>Martorell</c:v>
                  </c:pt>
                  <c:pt idx="8">
                    <c:v>Stauffer</c:v>
                  </c:pt>
                  <c:pt idx="9">
                    <c:v>Rheinberg</c:v>
                  </c:pt>
                  <c:pt idx="10">
                    <c:v>Lyon</c:v>
                  </c:pt>
                  <c:pt idx="11">
                    <c:v>Bussi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540</c:v>
                </c:pt>
                <c:pt idx="1">
                  <c:v>1186</c:v>
                </c:pt>
                <c:pt idx="2">
                  <c:v>-578</c:v>
                </c:pt>
                <c:pt idx="3">
                  <c:v>-2942</c:v>
                </c:pt>
                <c:pt idx="4">
                  <c:v>-1988</c:v>
                </c:pt>
                <c:pt idx="5">
                  <c:v>-2327</c:v>
                </c:pt>
                <c:pt idx="6">
                  <c:v>-963</c:v>
                </c:pt>
                <c:pt idx="7">
                  <c:v>-2131</c:v>
                </c:pt>
                <c:pt idx="8">
                  <c:v>-2335</c:v>
                </c:pt>
                <c:pt idx="9">
                  <c:v>-1940</c:v>
                </c:pt>
                <c:pt idx="10">
                  <c:v>507</c:v>
                </c:pt>
                <c:pt idx="11">
                  <c:v>-3161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AD47"/>
              </a:solidFill>
              <a:effectLst/>
            </c:spPr>
          </c:dPt>
          <c:dPt>
            <c:idx val="1"/>
            <c:bubble3D val="0"/>
            <c:spPr>
              <a:solidFill>
                <a:srgbClr val="FFD700"/>
              </a:solidFill>
              <a:effectLst/>
            </c:spPr>
          </c:dPt>
          <c:dPt>
            <c:idx val="2"/>
            <c:bubble3D val="0"/>
            <c:spPr>
              <a:solidFill>
                <a:srgbClr val="C00000"/>
              </a:solidFill>
              <a:effectLst/>
            </c:spPr>
          </c:dPt>
          <c:dPt>
            <c:idx val="3"/>
            <c:bubble3D val="0"/>
            <c:spPr>
              <a:solidFill>
                <a:srgbClr val="2E75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Compliant</c:v>
                </c:pt>
                <c:pt idx="1">
                  <c:v>Partial</c:v>
                </c:pt>
                <c:pt idx="2">
                  <c:v>Gap Identified</c:v>
                </c:pt>
                <c:pt idx="3">
                  <c:v>Under Review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Certified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Lyon</c:v>
                  </c:pt>
                  <c:pt idx="1">
                    <c:v>Brussels</c:v>
                  </c:pt>
                  <c:pt idx="2">
                    <c:v>Rheinberg</c:v>
                  </c:pt>
                  <c:pt idx="3">
                    <c:v>Rosignano</c:v>
                  </c:pt>
                  <c:pt idx="4">
                    <c:v>Torrelavega</c:v>
                  </c:pt>
                  <c:pt idx="5">
                    <c:v>Jemeppe</c:v>
                  </c:pt>
                  <c:pt idx="6">
                    <c:v>Tavaux</c:v>
                  </c:pt>
                  <c:pt idx="7">
                    <c:v>Dombasle</c:v>
                  </c:pt>
                  <c:pt idx="8">
                    <c:v>Martorell</c:v>
                  </c:pt>
                  <c:pt idx="9">
                    <c:v>Warrington</c:v>
                  </c:pt>
                  <c:pt idx="10">
                    <c:v>Stauffer</c:v>
                  </c:pt>
                  <c:pt idx="11">
                    <c:v>Bussi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Lyon</c:v>
                  </c:pt>
                  <c:pt idx="1">
                    <c:v>Brussels</c:v>
                  </c:pt>
                  <c:pt idx="2">
                    <c:v>Rheinberg</c:v>
                  </c:pt>
                  <c:pt idx="3">
                    <c:v>Rosignano</c:v>
                  </c:pt>
                  <c:pt idx="4">
                    <c:v>Torrelavega</c:v>
                  </c:pt>
                  <c:pt idx="5">
                    <c:v>Jemeppe</c:v>
                  </c:pt>
                  <c:pt idx="6">
                    <c:v>Tavaux</c:v>
                  </c:pt>
                  <c:pt idx="7">
                    <c:v>Dombasle</c:v>
                  </c:pt>
                  <c:pt idx="8">
                    <c:v>Martorell</c:v>
                  </c:pt>
                  <c:pt idx="9">
                    <c:v>Warrington</c:v>
                  </c:pt>
                  <c:pt idx="10">
                    <c:v>Stauffer</c:v>
                  </c:pt>
                  <c:pt idx="11">
                    <c:v>Bussi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Planned/Not Started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Lyon</c:v>
                  </c:pt>
                  <c:pt idx="1">
                    <c:v>Brussels</c:v>
                  </c:pt>
                  <c:pt idx="2">
                    <c:v>Rheinberg</c:v>
                  </c:pt>
                  <c:pt idx="3">
                    <c:v>Rosignano</c:v>
                  </c:pt>
                  <c:pt idx="4">
                    <c:v>Torrelavega</c:v>
                  </c:pt>
                  <c:pt idx="5">
                    <c:v>Jemeppe</c:v>
                  </c:pt>
                  <c:pt idx="6">
                    <c:v>Tavaux</c:v>
                  </c:pt>
                  <c:pt idx="7">
                    <c:v>Dombasle</c:v>
                  </c:pt>
                  <c:pt idx="8">
                    <c:v>Martorell</c:v>
                  </c:pt>
                  <c:pt idx="9">
                    <c:v>Warrington</c:v>
                  </c:pt>
                  <c:pt idx="10">
                    <c:v>Stauffer</c:v>
                  </c:pt>
                  <c:pt idx="11">
                    <c:v>Bussi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 Score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DataEnergy</c:v>
                  </c:pt>
                  <c:pt idx="1">
                    <c:v>DriveFlow</c:v>
                  </c:pt>
                  <c:pt idx="2">
                    <c:v>VoltAI</c:v>
                  </c:pt>
                  <c:pt idx="3">
                    <c:v>LumaTech</c:v>
                  </c:pt>
                  <c:pt idx="4">
                    <c:v>ThermoLoop</c:v>
                  </c:pt>
                  <c:pt idx="5">
                    <c:v>SteamIQ</c:v>
                  </c:pt>
                  <c:pt idx="6">
                    <c:v>PowerSync</c:v>
                  </c:pt>
                  <c:pt idx="7">
                    <c:v>AirWise</c:v>
                  </c:pt>
                  <c:pt idx="8">
                    <c:v>MotorEdge</c:v>
                  </c:pt>
                  <c:pt idx="9">
                    <c:v>IsoShield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</c:v>
                </c:pt>
                <c:pt idx="1">
                  <c:v>91</c:v>
                </c:pt>
                <c:pt idx="2">
                  <c:v>88</c:v>
                </c:pt>
                <c:pt idx="3">
                  <c:v>84</c:v>
                </c:pt>
                <c:pt idx="4">
                  <c:v>82</c:v>
                </c:pt>
                <c:pt idx="5">
                  <c:v>79</c:v>
                </c:pt>
                <c:pt idx="6">
                  <c:v>76</c:v>
                </c:pt>
                <c:pt idx="7">
                  <c:v>71</c:v>
                </c:pt>
                <c:pt idx="8">
                  <c:v>67</c:v>
                </c:pt>
                <c:pt idx="9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presents the Solvay Energy Efficiency Project Portfolio — 49 projects across 12 industrial sites. I built this database as part of my preparation for the Production Excellence internship.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this end-to-end as a portfolio project specifically targeting the Solvay Production Excellence internship. The database structure mirrors exactly what the role requires: mapping projects, financial evaluation, regulatory tracking, and startup scouting.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portfolio covers 49 projects with 40,631 k€ total investment. Annual cost savings of 5,512 k€/yr and CO2 reduction of 8.07 ktCO2/yr. 14 projects already completed. Tavaux and Brussels are the top sites for cost savings.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Factor Correction and Variable Speed Drives show the highest total investment. Warrington and Lyon have positive portfolio NPV. The average IRR of 28.4% is driven by a few high-performing projects — the median is lower. Payback of 14.2 years reflects long-term industrial investments.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sites are fully compliant with EU Directive 2023/1791. 4 sites have overdue energy audits — Rosignano, Torrelavega, Martorell, and Bussi. These are priority sites for regulatory action. ISO 50001 certification is in place at Lyon, Rheinberg, Jemeppe, Dombasle, and Stauffer.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DataEnergy and DriveFlow are the top-scoring startups with scores of 95 and 91. Both are Series B funded, reducing deployment risk. I recommended 4 pilots and 2 demos as immediate next steps. The scoring methodology combines technology fit, funding maturity, and applicability to Solvay's most common project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technical stack: Excel with advanced formulas as the data layer, Power BI for visualization, Python for automation, and SQL for queries. This directly mirrors the skills listed in the Solvay job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your unique combination: EEE engineering foundation, proven data analysis experience, and this hands-on project that demonstrates exactly what the Solvay role requires — project mapping, financial evaluation, regulatory analysis, and startup scouting.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B52"/>
          </a:solidFill>
          <a:ln w="12700">
            <a:solidFill>
              <a:srgbClr val="162B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Portfolio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Excellence Team | Global Industrial Sites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3108960"/>
            <a:ext cx="2743200" cy="0"/>
          </a:xfrm>
          <a:prstGeom prst="line">
            <a:avLst/>
          </a:prstGeom>
          <a:noFill/>
          <a:ln w="12700">
            <a:solidFill>
              <a:srgbClr val="00B0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83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83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Projects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3383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383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Sites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383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383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Countries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3383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383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Dir. 2023/1791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Nandhakumar Chitra Ragupathy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Data Science &amp; AI | DSTI Paris | Candidate – Stage Analyste Efficacité Énergétique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This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 and why it matters for Solvay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MSc Data Science &amp; AI, DSTI Paris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371600"/>
            <a:ext cx="548640" cy="5486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energy efficiency projects across 12 Solvay industrial sites. 4 linked data tables: Projects, Sites, Regulatory, Startups.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18872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371600"/>
            <a:ext cx="548640" cy="54864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860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compliance tracker for EU Directive 2023/1791, ISO 50001, ISO 14001, and energy audit schedules per site.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118872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77256" y="1371600"/>
            <a:ext cx="548640" cy="5486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91456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Techno-economic evaluation: Investment, NPV, IRR, Payback period, and cost savings for every project.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12864" y="118872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90104" y="1371600"/>
            <a:ext cx="548640" cy="54864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010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04304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04304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matchmaking matrix: 10 energy startups evaluated with match scores and recommended actions.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645920" y="16459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4592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KPIs, status distribution, and investment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Solvay Energy Efficiency Portfolio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KPIs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portfolio | 49 projects | 12 sites | 5 countries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MSc Data Science &amp; AI, DSTI Paris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43000"/>
            <a:ext cx="164592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PROJECTS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4904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12 sites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38528" y="114300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38528" y="1143000"/>
            <a:ext cx="1645920" cy="64008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29968" y="14904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40,631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29968" y="1965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94176" y="114300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94176" y="1143000"/>
            <a:ext cx="1645920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SAVINGS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85616" y="14904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23,765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85616" y="1965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MWh/yr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9824" y="114300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9824" y="1143000"/>
            <a:ext cx="1645920" cy="6400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41264" y="14904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5,512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41264" y="1965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k€/yr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05472" y="114300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05472" y="1143000"/>
            <a:ext cx="1645920" cy="6400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REDUCTION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96912" y="14904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296912" y="1965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ktCO2/yr</a:t>
            </a:r>
            <a:endParaRPr lang="en-US" sz="9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182880" y="2468880"/>
          <a:ext cx="3200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1828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by status</a:t>
            </a:r>
            <a:endParaRPr lang="en-US" sz="1000" dirty="0"/>
          </a:p>
        </p:txBody>
      </p:sp>
      <p:graphicFrame>
        <p:nvGraphicFramePr>
          <p:cNvPr id="33" name="Chart 1" descr=""/>
          <p:cNvGraphicFramePr/>
          <p:nvPr/>
        </p:nvGraphicFramePr>
        <p:xfrm>
          <a:off x="3566160" y="237744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Text 30"/>
          <p:cNvSpPr/>
          <p:nvPr/>
        </p:nvSpPr>
        <p:spPr>
          <a:xfrm>
            <a:off x="3566160" y="2377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 by site (k€/yr)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645920" y="16459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4592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IRR, NPV, payback period and investment prioritisation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Solvay Energy Efficiency Portfolio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43D6B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Techno-Economic 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NPV, IRR and payback across all 49 projects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MSc Data Science &amp; AI, DSTI Paris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43000"/>
            <a:ext cx="1920240" cy="6400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IRR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28.4%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investment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143000"/>
            <a:ext cx="19202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PAYBACK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 yrs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317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payback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143000"/>
            <a:ext cx="1920240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NPV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-17,652 k€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3891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NPV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143000"/>
            <a:ext cx="1920240" cy="64008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+ve NPV PROJECTS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49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of portfolio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182880" y="2331720"/>
          <a:ext cx="53035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18288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vs cost savings by technology</a:t>
            </a:r>
            <a:endParaRPr lang="en-US" sz="10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5669280" y="2331720"/>
          <a:ext cx="32918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 25"/>
          <p:cNvSpPr/>
          <p:nvPr/>
        </p:nvSpPr>
        <p:spPr>
          <a:xfrm>
            <a:off x="566928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by site — green=positive, red=negative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645920" y="16459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4592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Directive 2023/1791 | ISO 50001 | ISO 14001 | Energy Audits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Solvay Energy Efficiency Portfolio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Regulatory Compliance Tracker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Directive (EU) 2023/1791 | ISO 50001 | ISO 14001 | Audit Status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MSc Data Science &amp; AI, DSTI Paris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43000"/>
            <a:ext cx="1920240" cy="6400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SITES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Dir. 2023/1791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143000"/>
            <a:ext cx="19202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50001 CERTIFIED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317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mgmt system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143000"/>
            <a:ext cx="1920240" cy="640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OVERDUE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sites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3891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143000"/>
            <a:ext cx="1920240" cy="64008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EnMS IMPLEMENTED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sites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deployment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182880" y="2331720"/>
          <a:ext cx="3200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18288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Dir. 2023/1791 compliance split</a:t>
            </a:r>
            <a:endParaRPr lang="en-US" sz="10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3566160" y="2331720"/>
          <a:ext cx="5394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 25"/>
          <p:cNvSpPr/>
          <p:nvPr/>
        </p:nvSpPr>
        <p:spPr>
          <a:xfrm>
            <a:off x="3566160" y="2240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50001 certification status by site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B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645920" y="16459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Matchmaking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4592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scouting — matching energy startups to industrial site needs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Solvay Energy Efficiency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Startup Matchmaking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startups evaluated | Match scores | Recommended 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MSc Data Science &amp; AI, DSTI Paris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43000"/>
            <a:ext cx="19202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startups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innovators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143000"/>
            <a:ext cx="1920240" cy="6400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RECOMMENDED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startups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317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deploy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143000"/>
            <a:ext cx="1920240" cy="64008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MATCH SCORE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79.6 / 100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3891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fit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143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143000"/>
            <a:ext cx="1920240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SCORER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1490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DataEnergy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95/100 score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182880" y="2331720"/>
          <a:ext cx="53035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18288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score by startup (green=pilot, blue=demo, red=monitor)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240280"/>
          <a:ext cx="3383280" cy="27432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640080"/>
                <a:gridCol w="502920"/>
                <a:gridCol w="502920"/>
              </a:tblGrid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Startup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DataEnergy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/ IoT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VoltAI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/ IoT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LumaTech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ThermoLoop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Recovery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SteamIQ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C5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PowerSync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Quality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C5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AirWise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Compressed Air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C5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MotorEdge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C5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IsoShield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Insulation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C00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&amp; Tools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of the project database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 C.R. | MSc Data Science &amp; AI, DSTI Paris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41732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Advanced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08760" y="1325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Query, TCD, INDEX/MATCH, data validation, conditional formatting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41732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35040" y="1325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data model, DAX measures, 5 interactive dashboards, slicers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42316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65176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08760" y="2560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for data generation, openpyxl for Excel automation, reportlab for PDF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42316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18888" y="265176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35040" y="2560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relational queries for project and site aggregations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365760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" y="388620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Directive 2023/1791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0876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analysis: audit obligations, ISO 50001/14001 compliance assessment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65760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18888" y="388620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Scouting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3504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methodology, match scoring, pilot vs assess vs monitor tiers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 for this role?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286000" cy="0"/>
          </a:xfrm>
          <a:prstGeom prst="line">
            <a:avLst/>
          </a:prstGeom>
          <a:noFill/>
          <a:ln w="12700">
            <a:solidFill>
              <a:srgbClr val="00B0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" cy="2743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EEE Engineering Degree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90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Bilans énergétiques, moteurs, transformateurs, efficacité industrielle — directly applicable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274320" cy="2743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+ Power BI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221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this exact database with Power Query, DAX, interactive dashboards, KPIs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274320" cy="2743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Directive 2023/1791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9535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 full compliance requirements, audit obligations, ISO 50001 positioning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274320" cy="2743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(2+ years)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685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Bhogan Mediasoft — project cartography, techno-economic evaluation, KPI dashboards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274320" cy="2743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Data Science &amp; AI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416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DSTI Paris — SQL, Python, Power BI, financial modelling, international communication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162B52"/>
          </a:solidFill>
          <a:ln w="12700">
            <a:solidFill>
              <a:srgbClr val="162B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nandhakumarragupathy@gmail.com  |  +33 7 45 67 04 24  |  linkedin.com/in/nandhakumarcr  |  Lyon hybride – disponible immédiatement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Solvay Energy Efficiency – Portfolio Analysis</dc:title>
  <dc:subject>PptxGenJS Presentation</dc:subject>
  <dc:creator>Nandhakumar Chitra Ragupathy</dc:creator>
  <cp:lastModifiedBy>Nandhakumar Chitra Ragupathy</cp:lastModifiedBy>
  <cp:revision>1</cp:revision>
  <dcterms:created xsi:type="dcterms:W3CDTF">2026-06-13T09:17:05Z</dcterms:created>
  <dcterms:modified xsi:type="dcterms:W3CDTF">2026-06-13T09:17:05Z</dcterms:modified>
</cp:coreProperties>
</file>